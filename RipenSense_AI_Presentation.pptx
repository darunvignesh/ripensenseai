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-3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2E815-0566-47B2-93AF-0732A13A6A7D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60062-1921-4490-834A-8181BF664F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RipenSense AI as a classical AI project. Emphasize that OpenCV extracts measurements, while hand-written symbolic rules make the decisions. No ML or generative AI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practical problem and the project boundary. It is a decision-support prototype, not a laboratory test of internal ripeness.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four core outcomes. Explain that the logistics components are planning examples driven by the classification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end-to-end pipeline. The vision stage only measures; the rule engine converts measurements into symbolic conclusions. Explainability is provided by tracing the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PEAS as Performance measure, Environment, Actuators and Sensors. The rational agent uses the evidence available; it cannot infer hidden internal ripeness.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vision system as a deterministic measurement stage. Examples of symbolic facts include Round, Elongated, Boxy, Necked, YellowDominant and ManySpots.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one example of forward chaining from YellowDominant and FewSpots to Ripe, then from Ripe to SellImmediately. Backward chaining explains why a verdict was reached; resolution attempts proof by refutation on the same rule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BFS and DFS are used for warehouse zone routing; A* and Best-First for delivery routing. Local search improves storage-slot assignments. Online search updates market recommendations when new information is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CSP vocabulary: variables are crates, domains are possible storage zones, and constraints describe allowed combinations. MRV chooses the crate with the fewest remaining options; forward checking prunes domains after each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mockup, not a screenshot from a running application. Replace the two placeholders with genuine app screenshots before submission. Percentages shown in the app are rule certainty, not measured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16 tests used code-generated drawings: eight fruit drawings and eight non-fruit drawings. All matched expected results, but this is a logic smoke test only. Do not describe it as 100% real-world accuracy. The labelled-photo evaluation has not been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honest about fruit suitability and the inability to assess internal condition. Mention that optional ML or generative AI is future scope only, not currently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summarizing how the project maps to the syllabus. State that the prototype demonstrates classical AI methods and that real-photo testing is the next essential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366760" y="914400"/>
            <a:ext cx="2651760" cy="2651760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81160" y="2148840"/>
            <a:ext cx="1920240" cy="1920240"/>
          </a:xfrm>
          <a:prstGeom prst="ellipse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15046" y="2953512"/>
            <a:ext cx="974750" cy="1188720"/>
          </a:xfrm>
          <a:prstGeom prst="ellipse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96174" y="3119932"/>
            <a:ext cx="832103" cy="891540"/>
          </a:xfrm>
          <a:prstGeom prst="ellipse">
            <a:avLst/>
          </a:prstGeom>
          <a:solidFill>
            <a:srgbClr val="F6CC54"/>
          </a:solidFill>
          <a:ln>
            <a:solidFill>
              <a:srgbClr val="F6C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61857" y="2787091"/>
            <a:ext cx="95097" cy="261518"/>
          </a:xfrm>
          <a:prstGeom prst="rect">
            <a:avLst/>
          </a:prstGeom>
          <a:solidFill>
            <a:srgbClr val="91633D"/>
          </a:solidFill>
          <a:ln>
            <a:solidFill>
              <a:srgbClr val="916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09406" y="2810865"/>
            <a:ext cx="427939" cy="190195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55987" y="3778300"/>
            <a:ext cx="804672" cy="824788"/>
          </a:xfrm>
          <a:prstGeom prst="ellipse">
            <a:avLst/>
          </a:prstGeom>
          <a:solidFill>
            <a:srgbClr val="C34F41"/>
          </a:solidFill>
          <a:ln>
            <a:solidFill>
              <a:srgbClr val="C3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28148" y="3778300"/>
            <a:ext cx="804672" cy="824788"/>
          </a:xfrm>
          <a:prstGeom prst="ellipse">
            <a:avLst/>
          </a:prstGeom>
          <a:solidFill>
            <a:srgbClr val="C34F41"/>
          </a:solidFill>
          <a:ln>
            <a:solidFill>
              <a:srgbClr val="C3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27564" y="3677716"/>
            <a:ext cx="201168" cy="201168"/>
          </a:xfrm>
          <a:prstGeom prst="ellipse">
            <a:avLst/>
          </a:prstGeom>
          <a:solidFill>
            <a:srgbClr val="C34F41"/>
          </a:solidFill>
          <a:ln>
            <a:solidFill>
              <a:srgbClr val="C3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468965" y="3637483"/>
            <a:ext cx="90525" cy="251460"/>
          </a:xfrm>
          <a:prstGeom prst="rect">
            <a:avLst/>
          </a:prstGeom>
          <a:solidFill>
            <a:srgbClr val="91633D"/>
          </a:solidFill>
          <a:ln>
            <a:solidFill>
              <a:srgbClr val="916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49432" y="3677716"/>
            <a:ext cx="341985" cy="160934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rc 12"/>
          <p:cNvSpPr/>
          <p:nvPr/>
        </p:nvSpPr>
        <p:spPr>
          <a:xfrm>
            <a:off x="7772400" y="4754880"/>
            <a:ext cx="1207008" cy="754380"/>
          </a:xfrm>
          <a:prstGeom prst="arc">
            <a:avLst/>
          </a:prstGeom>
          <a:solidFill>
            <a:srgbClr val="F6CC54"/>
          </a:solidFill>
          <a:ln>
            <a:solidFill>
              <a:srgbClr val="F6C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893100" y="4925872"/>
            <a:ext cx="945489" cy="422452"/>
          </a:xfrm>
          <a:prstGeom prst="ellipse">
            <a:avLst/>
          </a:prstGeom>
          <a:solidFill>
            <a:srgbClr val="F6CC54"/>
          </a:solidFill>
          <a:ln>
            <a:solidFill>
              <a:srgbClr val="F6C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953451" y="5056632"/>
            <a:ext cx="865022" cy="241401"/>
          </a:xfrm>
          <a:prstGeom prst="ellipse">
            <a:avLst/>
          </a:prstGeom>
          <a:solidFill>
            <a:srgbClr val="F6F9F2"/>
          </a:solidFill>
          <a:ln>
            <a:solidFill>
              <a:srgbClr val="F6F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2633" y="4935931"/>
            <a:ext cx="110642" cy="80467"/>
          </a:xfrm>
          <a:prstGeom prst="rect">
            <a:avLst/>
          </a:prstGeom>
          <a:solidFill>
            <a:srgbClr val="91633D"/>
          </a:solidFill>
          <a:ln>
            <a:solidFill>
              <a:srgbClr val="916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08415" y="5177332"/>
            <a:ext cx="100584" cy="80467"/>
          </a:xfrm>
          <a:prstGeom prst="rect">
            <a:avLst/>
          </a:prstGeom>
          <a:solidFill>
            <a:srgbClr val="91633D"/>
          </a:solidFill>
          <a:ln>
            <a:solidFill>
              <a:srgbClr val="916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1325880"/>
            <a:ext cx="66751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 Display"/>
              </a:rPr>
              <a:t>RipenSense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212848"/>
            <a:ext cx="6400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B1D869"/>
                </a:solidFill>
                <a:latin typeface="Aptos"/>
              </a:rPr>
              <a:t>Fruit Ripeness Scanner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834640"/>
            <a:ext cx="60350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E0F1DE"/>
                </a:solidFill>
                <a:latin typeface="Aptos"/>
              </a:rPr>
              <a:t>A classical-AI, rule-based approach to fruit screening, ripeness decisions and logistics planning.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02920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0F1DE"/>
                </a:solidFill>
                <a:latin typeface="Aptos"/>
              </a:rPr>
              <a:t>FUNDAMENTALS OF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362A"/>
                </a:solidFill>
                <a:latin typeface="Aptos Display"/>
              </a:rPr>
              <a:t>The problem: a quick visual check can mislead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77824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5746A"/>
                </a:solidFill>
                <a:latin typeface="Aptos"/>
              </a:rPr>
              <a:t>Why a structured decision-support tool is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713232" cy="54864"/>
          </a:xfrm>
          <a:prstGeom prst="rect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5746A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1965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1965960"/>
          </a:xfrm>
          <a:prstGeom prst="rect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37360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Colour is not enough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30175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12A"/>
                </a:solidFill>
                <a:latin typeface="Aptos"/>
              </a:rPr>
              <a:t>A fruit can look yellow outside yet still be unripe inside. The app only assesses the outside.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1965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73152" cy="1965960"/>
          </a:xfrm>
          <a:prstGeom prst="rect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37360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Waste has a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30175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12A"/>
                </a:solidFill>
                <a:latin typeface="Aptos"/>
              </a:rPr>
              <a:t>Farmers, retailers and distributors need a consistent way to decide what to store, sell or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383280" cy="1965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73152" cy="1965960"/>
          </a:xfrm>
          <a:prstGeom prst="rect">
            <a:avLst/>
          </a:prstGeom>
          <a:solidFill>
            <a:srgbClr val="C34F41"/>
          </a:solidFill>
          <a:ln>
            <a:solidFill>
              <a:srgbClr val="C3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37360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Objects can fool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30552"/>
            <a:ext cx="30175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12A"/>
                </a:solidFill>
                <a:latin typeface="Aptos"/>
              </a:rPr>
              <a:t>A round orange toy ball can be accepted as fruit when colour and outline look similar.</a:t>
            </a:r>
          </a:p>
        </p:txBody>
      </p:sp>
      <p:sp>
        <p:nvSpPr>
          <p:cNvPr id="18" name="Oval 17"/>
          <p:cNvSpPr/>
          <p:nvPr/>
        </p:nvSpPr>
        <p:spPr>
          <a:xfrm>
            <a:off x="1532534" y="4347972"/>
            <a:ext cx="787298" cy="960120"/>
          </a:xfrm>
          <a:prstGeom prst="ellipse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436522" y="4482388"/>
            <a:ext cx="672084" cy="720090"/>
          </a:xfrm>
          <a:prstGeom prst="ellipse">
            <a:avLst/>
          </a:prstGeom>
          <a:solidFill>
            <a:srgbClr val="F6CC54"/>
          </a:solidFill>
          <a:ln>
            <a:solidFill>
              <a:srgbClr val="F6C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74189" y="4213555"/>
            <a:ext cx="76809" cy="211226"/>
          </a:xfrm>
          <a:prstGeom prst="rect">
            <a:avLst/>
          </a:prstGeom>
          <a:solidFill>
            <a:srgbClr val="91633D"/>
          </a:solidFill>
          <a:ln>
            <a:solidFill>
              <a:srgbClr val="916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012594" y="4232757"/>
            <a:ext cx="345643" cy="153619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5321808"/>
            <a:ext cx="1325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5746A"/>
                </a:solidFill>
                <a:latin typeface="Aptos"/>
              </a:rPr>
              <a:t>Outside looks ripe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43200" y="4754880"/>
            <a:ext cx="914400" cy="0"/>
          </a:xfrm>
          <a:prstGeom prst="line">
            <a:avLst/>
          </a:prstGeom>
          <a:ln w="22860">
            <a:solidFill>
              <a:srgbClr val="65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94760" y="4251960"/>
            <a:ext cx="2834640" cy="914400"/>
          </a:xfrm>
          <a:prstGeom prst="roundRect">
            <a:avLst>
              <a:gd name="adj" fmla="val 15000"/>
            </a:avLst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77639" y="4425696"/>
            <a:ext cx="24688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Rule-based screening
+ explainable action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12280" y="4754880"/>
            <a:ext cx="914399" cy="0"/>
          </a:xfrm>
          <a:prstGeom prst="line">
            <a:avLst/>
          </a:prstGeom>
          <a:ln w="22860">
            <a:solidFill>
              <a:srgbClr val="65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09560" y="4251960"/>
            <a:ext cx="320040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4443984"/>
            <a:ext cx="2743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5734E"/>
                </a:solidFill>
                <a:latin typeface="Aptos"/>
              </a:rPr>
              <a:t>Store • Ripen • Sell
Process / Dispose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Goal: support decisions and reduce avoidable waste — not replace expert inspection.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362A"/>
                </a:solidFill>
                <a:latin typeface="Aptos Display"/>
              </a:rPr>
              <a:t>Objectives and intended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77824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5746A"/>
                </a:solidFill>
                <a:latin typeface="Aptos"/>
              </a:rPr>
              <a:t>A phone-friendly browser workflow for produce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713232" cy="54864"/>
          </a:xfrm>
          <a:prstGeom prst="rect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5746A"/>
                </a:solidFill>
                <a:latin typeface="Aptos"/>
              </a:rP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1783080"/>
            <a:ext cx="621792" cy="621792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901952"/>
            <a:ext cx="6217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4362A"/>
                </a:solidFill>
                <a:latin typeface="Aptos"/>
              </a:rPr>
              <a:t>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228600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5746A"/>
                </a:solidFill>
                <a:latin typeface="Aptos"/>
              </a:rPr>
              <a:t>Decide whether the image is fruit-like or non-fruit.</a:t>
            </a:r>
          </a:p>
        </p:txBody>
      </p:sp>
      <p:sp>
        <p:nvSpPr>
          <p:cNvPr id="10" name="Oval 9"/>
          <p:cNvSpPr/>
          <p:nvPr/>
        </p:nvSpPr>
        <p:spPr>
          <a:xfrm>
            <a:off x="4206240" y="1783080"/>
            <a:ext cx="621792" cy="621792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901952"/>
            <a:ext cx="6217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4362A"/>
                </a:solidFill>
                <a:latin typeface="Aptos"/>
              </a:rPr>
              <a:t>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154680"/>
            <a:ext cx="228600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5746A"/>
                </a:solidFill>
                <a:latin typeface="Aptos"/>
              </a:rPr>
              <a:t>Estimate Unripe, Ripe or Overripe from external cues.</a:t>
            </a:r>
          </a:p>
        </p:txBody>
      </p:sp>
      <p:sp>
        <p:nvSpPr>
          <p:cNvPr id="14" name="Oval 13"/>
          <p:cNvSpPr/>
          <p:nvPr/>
        </p:nvSpPr>
        <p:spPr>
          <a:xfrm>
            <a:off x="7086600" y="1783080"/>
            <a:ext cx="621792" cy="621792"/>
          </a:xfrm>
          <a:prstGeom prst="ellipse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600" y="1901952"/>
            <a:ext cx="6217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4362A"/>
                </a:solidFill>
                <a:latin typeface="Aptos"/>
              </a:rPr>
              <a:t>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54680"/>
            <a:ext cx="228600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5746A"/>
                </a:solidFill>
                <a:latin typeface="Aptos"/>
              </a:rPr>
              <a:t>Suggest a handling action and rule-of-thumb shelf life.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0" y="1783080"/>
            <a:ext cx="621792" cy="621792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60" y="1901952"/>
            <a:ext cx="62179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651760"/>
            <a:ext cx="1828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4362A"/>
                </a:solidFill>
                <a:latin typeface="Aptos"/>
              </a:rPr>
              <a:t>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154680"/>
            <a:ext cx="228600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5746A"/>
                </a:solidFill>
                <a:latin typeface="Aptos"/>
              </a:rPr>
              <a:t>Route the crate and assign a suitable storage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892040"/>
            <a:ext cx="10012680" cy="777240"/>
          </a:xfrm>
          <a:prstGeom prst="roundRect">
            <a:avLst>
              <a:gd name="adj" fmla="val 15000"/>
            </a:avLst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5102352"/>
            <a:ext cx="9509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4362A"/>
                </a:solidFill>
                <a:latin typeface="Aptos"/>
              </a:rPr>
              <a:t>Users: farmers  •  retailers  •  distributors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362A"/>
                </a:solidFill>
                <a:latin typeface="Aptos Display"/>
              </a:rPr>
              <a:t>System architecture: from photo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77824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5746A"/>
                </a:solidFill>
                <a:latin typeface="Aptos"/>
              </a:rPr>
              <a:t>OpenCV measures; symbolic rules decide; search plans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713232" cy="54864"/>
          </a:xfrm>
          <a:prstGeom prst="rect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5746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938528" cy="1463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1288" y="1627632"/>
            <a:ext cx="603504" cy="603504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1773936"/>
            <a:ext cx="603504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95728"/>
            <a:ext cx="171907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Photo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788920"/>
            <a:ext cx="1719072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5746A"/>
                </a:solidFill>
                <a:latin typeface="Aptos"/>
              </a:rPr>
              <a:t>Camera / upload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41448" y="2697480"/>
            <a:ext cx="329184" cy="0"/>
          </a:xfrm>
          <a:prstGeom prst="line">
            <a:avLst/>
          </a:prstGeom>
          <a:ln w="25400">
            <a:solidFill>
              <a:srgbClr val="257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34639" y="1965960"/>
            <a:ext cx="1938528" cy="1463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93007" y="1627632"/>
            <a:ext cx="603504" cy="603504"/>
          </a:xfrm>
          <a:prstGeom prst="ellipse">
            <a:avLst/>
          </a:prstGeom>
          <a:solidFill>
            <a:srgbClr val="5F9DBE"/>
          </a:solidFill>
          <a:ln>
            <a:solidFill>
              <a:srgbClr val="5F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3007" y="1773936"/>
            <a:ext cx="603504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395728"/>
            <a:ext cx="171907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OpenCV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788920"/>
            <a:ext cx="1719072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5746A"/>
                </a:solidFill>
                <a:latin typeface="Aptos"/>
              </a:rPr>
              <a:t>Shape, colour, edges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73168" y="2697480"/>
            <a:ext cx="329184" cy="0"/>
          </a:xfrm>
          <a:prstGeom prst="line">
            <a:avLst/>
          </a:prstGeom>
          <a:ln w="25400">
            <a:solidFill>
              <a:srgbClr val="257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59" y="1965960"/>
            <a:ext cx="1938528" cy="1463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24727" y="1627632"/>
            <a:ext cx="603504" cy="603504"/>
          </a:xfrm>
          <a:prstGeom prst="ellipse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24727" y="1773936"/>
            <a:ext cx="603504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395728"/>
            <a:ext cx="171907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Symbolic 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788920"/>
            <a:ext cx="1719072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5746A"/>
                </a:solidFill>
                <a:latin typeface="Aptos"/>
              </a:rPr>
              <a:t>Round, yellow-dominant…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2697480"/>
            <a:ext cx="329183" cy="0"/>
          </a:xfrm>
          <a:prstGeom prst="line">
            <a:avLst/>
          </a:prstGeom>
          <a:ln w="25400">
            <a:solidFill>
              <a:srgbClr val="257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79" y="1965960"/>
            <a:ext cx="1938528" cy="1463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156448" y="1627632"/>
            <a:ext cx="603504" cy="603504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56448" y="1773936"/>
            <a:ext cx="603504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7" y="2395728"/>
            <a:ext cx="171907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Rule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7" y="2788920"/>
            <a:ext cx="1719072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5746A"/>
                </a:solidFill>
                <a:latin typeface="Aptos"/>
              </a:rPr>
              <a:t>Fruit, ripeness, action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2697480"/>
            <a:ext cx="329184" cy="0"/>
          </a:xfrm>
          <a:prstGeom prst="line">
            <a:avLst/>
          </a:prstGeom>
          <a:ln w="25400">
            <a:solidFill>
              <a:srgbClr val="257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29800" y="1965960"/>
            <a:ext cx="1938528" cy="1463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488168" y="1627632"/>
            <a:ext cx="603504" cy="603504"/>
          </a:xfrm>
          <a:prstGeom prst="ellipse">
            <a:avLst/>
          </a:prstGeom>
          <a:solidFill>
            <a:srgbClr val="14362A"/>
          </a:solidFill>
          <a:ln>
            <a:solidFill>
              <a:srgbClr val="14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88168" y="1773936"/>
            <a:ext cx="603504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2395728"/>
            <a:ext cx="171907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AI planner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2788920"/>
            <a:ext cx="1719072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5746A"/>
                </a:solidFill>
                <a:latin typeface="Aptos"/>
              </a:rPr>
              <a:t>Warehouse + delivery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4251960"/>
            <a:ext cx="4754880" cy="1051560"/>
          </a:xfrm>
          <a:prstGeom prst="roundRect">
            <a:avLst>
              <a:gd name="adj" fmla="val 15000"/>
            </a:avLst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4407408"/>
            <a:ext cx="4297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362A"/>
                </a:solidFill>
                <a:latin typeface="Aptos"/>
              </a:rPr>
              <a:t>Explainability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754880"/>
            <a:ext cx="4297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Backward-chaining trace + resolution proof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4251960"/>
            <a:ext cx="4754880" cy="10515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0" y="4407408"/>
            <a:ext cx="4297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362A"/>
                </a:solidFill>
                <a:latin typeface="Aptos"/>
              </a:rPr>
              <a:t>Web interface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754880"/>
            <a:ext cx="4297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Flask app • phone browser • result and route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362A"/>
                </a:solidFill>
                <a:latin typeface="Aptos Display"/>
              </a:rPr>
              <a:t>Agent design: PEAS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77824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5746A"/>
                </a:solidFill>
                <a:latin typeface="Aptos"/>
              </a:rPr>
              <a:t>Unit I — rational agent, environment and problem-solving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713232" cy="54864"/>
          </a:xfrm>
          <a:prstGeom prst="rect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965960"/>
            <a:ext cx="731520" cy="731520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57984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74519"/>
            <a:ext cx="3611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86000"/>
            <a:ext cx="36118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Useful screening; explainable action; feasible route; less avoidable waste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516636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83680" y="1965960"/>
            <a:ext cx="731520" cy="731520"/>
          </a:xfrm>
          <a:prstGeom prst="ellipse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157984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874519"/>
            <a:ext cx="3611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286000"/>
            <a:ext cx="36118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Produce images, warehouse zones, storage rules, markets and delivery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39"/>
            <a:ext cx="516636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0120" y="3840479"/>
            <a:ext cx="731520" cy="731520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032504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749039"/>
            <a:ext cx="3611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Actuators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160520"/>
            <a:ext cx="36118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Display verdict, recommend handling, assign zone and return route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520439"/>
            <a:ext cx="516636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83680" y="3840479"/>
            <a:ext cx="731520" cy="731520"/>
          </a:xfrm>
          <a:prstGeom prst="ellipse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032504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749039"/>
            <a:ext cx="3611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Sensors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160520"/>
            <a:ext cx="36118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Phone camera or uploaded image; user-provided temperature /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5532120"/>
            <a:ext cx="8321040" cy="475488"/>
          </a:xfrm>
          <a:prstGeom prst="roundRect">
            <a:avLst>
              <a:gd name="adj" fmla="val 15000"/>
            </a:avLst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03120" y="5623560"/>
            <a:ext cx="7955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362A"/>
                </a:solidFill>
                <a:latin typeface="Aptos"/>
              </a:rPr>
              <a:t>Rationality = choose an action supported by available percepts and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362A"/>
                </a:solidFill>
                <a:latin typeface="Aptos Display"/>
              </a:rPr>
              <a:t>Vision module: measurements, not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77824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5746A"/>
                </a:solidFill>
                <a:latin typeface="Aptos"/>
              </a:rPr>
              <a:t>OpenCV extracts numeric features; hand-written ramps turn them into symbolic 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713232" cy="54864"/>
          </a:xfrm>
          <a:prstGeom prst="rect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33375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3337560"/>
          </a:xfrm>
          <a:prstGeom prst="rect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37360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1. 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306324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12A"/>
                </a:solidFill>
                <a:latin typeface="Aptos"/>
              </a:rPr>
              <a:t>• Estimate background with least-squares plane fit on border pixels
• Lab colour-distance threshold
• Morphology and largest contour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33375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73152" cy="3337560"/>
          </a:xfrm>
          <a:prstGeom prst="rect">
            <a:avLst/>
          </a:prstGeom>
          <a:solidFill>
            <a:srgbClr val="5F9DBE"/>
          </a:solidFill>
          <a:ln>
            <a:solidFill>
              <a:srgbClr val="5F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37360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2. Measure 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306324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12A"/>
                </a:solidFill>
                <a:latin typeface="Aptos"/>
              </a:rPr>
              <a:t>• Aspect ratio and extent
• Circularity and solidity
• Neck-step score
• Canny edge density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429000" cy="33375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73152" cy="3337560"/>
          </a:xfrm>
          <a:prstGeom prst="rect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37360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3. Measure colour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30552"/>
            <a:ext cx="306324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12A"/>
                </a:solidFill>
                <a:latin typeface="Aptos"/>
              </a:rPr>
              <a:t>HSV colour fractions:
• Green, yellow, red/orange
• Brown, dark, white, grey, blue
No model training occurs.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5303520"/>
            <a:ext cx="8321040" cy="548640"/>
          </a:xfrm>
          <a:prstGeom prst="roundRect">
            <a:avLst>
              <a:gd name="adj" fmla="val 15000"/>
            </a:avLst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48840" y="5449824"/>
            <a:ext cx="7863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Feature values → hand-written ramp functions → facts with degrees of truth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362A"/>
                </a:solidFill>
                <a:latin typeface="Aptos Display"/>
              </a:rPr>
              <a:t>Rule-based expert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77824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5746A"/>
                </a:solidFill>
                <a:latin typeface="Aptos"/>
              </a:rPr>
              <a:t>Unit IV — Horn clauses, certainty factors and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713232" cy="54864"/>
          </a:xfrm>
          <a:prstGeom prst="rect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3566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362A"/>
                </a:solidFill>
                <a:latin typeface="Aptos"/>
              </a:rPr>
              <a:t>Example hand-written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31720"/>
            <a:ext cx="4892040" cy="2514600"/>
          </a:xfrm>
          <a:prstGeom prst="rect">
            <a:avLst/>
          </a:prstGeom>
          <a:noFill/>
        </p:spPr>
        <p:txBody>
          <a:bodyPr wrap="square" lIns="73152" tIns="54864" rIns="54864" b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12A"/>
                </a:solidFill>
                <a:latin typeface="Aptos"/>
              </a:defRPr>
            </a:pPr>
            <a:r>
              <a:t>•  Boxy AND Elongated  →  NotFruit</a:t>
            </a:r>
          </a:p>
          <a:p>
            <a:pPr>
              <a:spcAft>
                <a:spcPts val="800"/>
              </a:spcAft>
              <a:defRPr sz="1300">
                <a:solidFill>
                  <a:srgbClr val="23312A"/>
                </a:solidFill>
                <a:latin typeface="Aptos"/>
              </a:defRPr>
            </a:pPr>
            <a:r>
              <a:t>•  Necked  →  NotFruit</a:t>
            </a:r>
          </a:p>
          <a:p>
            <a:pPr>
              <a:spcAft>
                <a:spcPts val="800"/>
              </a:spcAft>
              <a:defRPr sz="1300">
                <a:solidFill>
                  <a:srgbClr val="23312A"/>
                </a:solidFill>
                <a:latin typeface="Aptos"/>
              </a:defRPr>
            </a:pPr>
            <a:r>
              <a:t>•  GreenDominant  →  Unripe</a:t>
            </a:r>
          </a:p>
          <a:p>
            <a:pPr>
              <a:spcAft>
                <a:spcPts val="800"/>
              </a:spcAft>
              <a:defRPr sz="1300">
                <a:solidFill>
                  <a:srgbClr val="23312A"/>
                </a:solidFill>
                <a:latin typeface="Aptos"/>
              </a:defRPr>
            </a:pPr>
            <a:r>
              <a:t>•  YellowDominant AND FewSpots  →  Ripe</a:t>
            </a:r>
          </a:p>
          <a:p>
            <a:pPr>
              <a:spcAft>
                <a:spcPts val="800"/>
              </a:spcAft>
              <a:defRPr sz="1300">
                <a:solidFill>
                  <a:srgbClr val="23312A"/>
                </a:solidFill>
                <a:latin typeface="Aptos"/>
              </a:defRPr>
            </a:pPr>
            <a:r>
              <a:t>•  BrownDominant  →  Overripe</a:t>
            </a:r>
          </a:p>
          <a:p>
            <a:pPr>
              <a:spcAft>
                <a:spcPts val="800"/>
              </a:spcAft>
              <a:defRPr sz="1300">
                <a:solidFill>
                  <a:srgbClr val="23312A"/>
                </a:solidFill>
                <a:latin typeface="Aptos"/>
              </a:defRPr>
            </a:pPr>
            <a:r>
              <a:t>•  Overripe  →  Dispose_or_Process</a:t>
            </a:r>
          </a:p>
          <a:p>
            <a:pPr>
              <a:spcAft>
                <a:spcPts val="800"/>
              </a:spcAft>
              <a:defRPr sz="1300">
                <a:solidFill>
                  <a:srgbClr val="23312A"/>
                </a:solidFill>
                <a:latin typeface="Aptos"/>
              </a:defRPr>
            </a:pPr>
            <a:r>
              <a:t>•  Ripe  →  SellImmediately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78308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362A"/>
                </a:solidFill>
                <a:latin typeface="Aptos"/>
              </a:rPr>
              <a:t>Inference methods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240280"/>
            <a:ext cx="45262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2240280"/>
            <a:ext cx="73152" cy="822960"/>
          </a:xfrm>
          <a:prstGeom prst="rect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377440"/>
            <a:ext cx="4178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Forward chaining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770632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3312A"/>
                </a:solidFill>
                <a:latin typeface="Aptos"/>
              </a:rPr>
              <a:t>Facts → applicable rules → verdict/action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246120"/>
            <a:ext cx="45262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66560" y="3246120"/>
            <a:ext cx="73152" cy="822960"/>
          </a:xfrm>
          <a:prstGeom prst="rect">
            <a:avLst/>
          </a:prstGeom>
          <a:solidFill>
            <a:srgbClr val="5F9DBE"/>
          </a:solidFill>
          <a:ln>
            <a:solidFill>
              <a:srgbClr val="5F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67728" y="3383279"/>
            <a:ext cx="4178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Backward chaining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776472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3312A"/>
                </a:solidFill>
                <a:latin typeface="Aptos"/>
              </a:rPr>
              <a:t>Goal → required facts → proof trace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4251960"/>
            <a:ext cx="45262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66560" y="4251960"/>
            <a:ext cx="73152" cy="822960"/>
          </a:xfrm>
          <a:prstGeom prst="rect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67728" y="4389120"/>
            <a:ext cx="4178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Resolution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782312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3312A"/>
                </a:solidFill>
                <a:latin typeface="Aptos"/>
              </a:rPr>
              <a:t>Refutation-based proof on same rule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241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65746A"/>
                </a:solidFill>
                <a:latin typeface="Aptos"/>
              </a:rPr>
              <a:t>FOL rules are grounded into propositional rules for inference.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362A"/>
                </a:solidFill>
                <a:latin typeface="Aptos Display"/>
              </a:rPr>
              <a:t>Search algorithms: from warehouse to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77824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5746A"/>
                </a:solidFill>
                <a:latin typeface="Aptos"/>
              </a:rPr>
              <a:t>Unit II — graph search, local search and online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713232" cy="54864"/>
          </a:xfrm>
          <a:prstGeom prst="rect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Warehouse graph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417319" y="2286000"/>
            <a:ext cx="1097281" cy="320040"/>
          </a:xfrm>
          <a:prstGeom prst="line">
            <a:avLst/>
          </a:prstGeom>
          <a:ln w="21590">
            <a:solidFill>
              <a:srgbClr val="65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17319" y="2606040"/>
            <a:ext cx="1097281" cy="731520"/>
          </a:xfrm>
          <a:prstGeom prst="line">
            <a:avLst/>
          </a:prstGeom>
          <a:ln w="21590">
            <a:solidFill>
              <a:srgbClr val="65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97480" y="2286000"/>
            <a:ext cx="1143000" cy="502920"/>
          </a:xfrm>
          <a:prstGeom prst="line">
            <a:avLst/>
          </a:prstGeom>
          <a:ln w="21590">
            <a:solidFill>
              <a:srgbClr val="65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697480" y="2788920"/>
            <a:ext cx="1143000" cy="548640"/>
          </a:xfrm>
          <a:prstGeom prst="line">
            <a:avLst/>
          </a:prstGeom>
          <a:ln w="21590">
            <a:solidFill>
              <a:srgbClr val="65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97280" y="2423160"/>
            <a:ext cx="731520" cy="502920"/>
          </a:xfrm>
          <a:prstGeom prst="ellipse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990088"/>
            <a:ext cx="960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362A"/>
                </a:solidFill>
                <a:latin typeface="Aptos"/>
              </a:rPr>
              <a:t>Intake</a:t>
            </a:r>
          </a:p>
        </p:txBody>
      </p:sp>
      <p:sp>
        <p:nvSpPr>
          <p:cNvPr id="13" name="Oval 12"/>
          <p:cNvSpPr/>
          <p:nvPr/>
        </p:nvSpPr>
        <p:spPr>
          <a:xfrm>
            <a:off x="2377440" y="2103120"/>
            <a:ext cx="731520" cy="502920"/>
          </a:xfrm>
          <a:prstGeom prst="ellipse">
            <a:avLst/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67712" y="2670048"/>
            <a:ext cx="960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362A"/>
                </a:solidFill>
                <a:latin typeface="Aptos"/>
              </a:rPr>
              <a:t>Zone A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0" y="3154680"/>
            <a:ext cx="731520" cy="502920"/>
          </a:xfrm>
          <a:prstGeom prst="ellipse">
            <a:avLst/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67712" y="3721608"/>
            <a:ext cx="960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362A"/>
                </a:solidFill>
                <a:latin typeface="Aptos"/>
              </a:rPr>
              <a:t>Zone B</a:t>
            </a:r>
          </a:p>
        </p:txBody>
      </p:sp>
      <p:sp>
        <p:nvSpPr>
          <p:cNvPr id="17" name="Oval 16"/>
          <p:cNvSpPr/>
          <p:nvPr/>
        </p:nvSpPr>
        <p:spPr>
          <a:xfrm>
            <a:off x="3703320" y="2606040"/>
            <a:ext cx="731520" cy="502920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93591" y="3172968"/>
            <a:ext cx="960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362A"/>
                </a:solidFill>
                <a:latin typeface="Aptos"/>
              </a:rPr>
              <a:t>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00200"/>
            <a:ext cx="292608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09160" y="1600200"/>
            <a:ext cx="73152" cy="1417320"/>
          </a:xfrm>
          <a:prstGeom prst="rect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10328" y="1737360"/>
            <a:ext cx="25786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BFS / DFS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2130552"/>
            <a:ext cx="25603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Explore warehouse-zone graph. BFS explores by layers; DFS follows a branch.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600200"/>
            <a:ext cx="342900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79" y="1600200"/>
            <a:ext cx="73152" cy="1417320"/>
          </a:xfrm>
          <a:prstGeom prst="rect">
            <a:avLst/>
          </a:prstGeom>
          <a:solidFill>
            <a:srgbClr val="5F9DBE"/>
          </a:solidFill>
          <a:ln>
            <a:solidFill>
              <a:srgbClr val="5F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56448" y="1737360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A* / Best-First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130552"/>
            <a:ext cx="30632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Choose a delivery route using path cost and/or heuristic guidance.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3337560"/>
            <a:ext cx="292608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709160" y="3337560"/>
            <a:ext cx="73152" cy="1417320"/>
          </a:xfrm>
          <a:prstGeom prst="rect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10328" y="3474720"/>
            <a:ext cx="25786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Local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0328" y="3867911"/>
            <a:ext cx="25603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Hill climbing with random restarts improves crate-to-slot assignments.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3337560"/>
            <a:ext cx="342900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55279" y="3337560"/>
            <a:ext cx="73152" cy="1417320"/>
          </a:xfrm>
          <a:prstGeom prst="rect">
            <a:avLst/>
          </a:prstGeom>
          <a:solidFill>
            <a:srgbClr val="14362A"/>
          </a:solidFill>
          <a:ln>
            <a:solidFill>
              <a:srgbClr val="14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56448" y="3474720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Online 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867911"/>
            <a:ext cx="30632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Recommends a market as new information arrives under uncertainty.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5257800"/>
            <a:ext cx="10149840" cy="594360"/>
          </a:xfrm>
          <a:prstGeom prst="roundRect">
            <a:avLst>
              <a:gd name="adj" fmla="val 15000"/>
            </a:avLst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34440" y="5431536"/>
            <a:ext cx="9692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Action becomes the goal: move to ripening • sell now • process / dispose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362A"/>
                </a:solidFill>
                <a:latin typeface="Aptos Display"/>
              </a:rPr>
              <a:t>Constraint satisfaction for storage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77824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5746A"/>
                </a:solidFill>
                <a:latin typeface="Aptos"/>
              </a:rPr>
              <a:t>Unit III — backtracking, forward checking and MRV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713232" cy="54864"/>
          </a:xfrm>
          <a:prstGeom prst="rect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Variables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828800" cy="502920"/>
          </a:xfrm>
          <a:prstGeom prst="roundRect">
            <a:avLst>
              <a:gd name="adj" fmla="val 15000"/>
            </a:avLst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76856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362A"/>
                </a:solidFill>
                <a:latin typeface="Aptos"/>
              </a:rPr>
              <a:t>Crate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98648"/>
            <a:ext cx="1828800" cy="502920"/>
          </a:xfrm>
          <a:prstGeom prst="roundRect">
            <a:avLst>
              <a:gd name="adj" fmla="val 15000"/>
            </a:avLst>
          </a:prstGeom>
          <a:solidFill>
            <a:srgbClr val="F6CC54"/>
          </a:solidFill>
          <a:ln>
            <a:solidFill>
              <a:srgbClr val="F6C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026664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362A"/>
                </a:solidFill>
                <a:latin typeface="Aptos"/>
              </a:rPr>
              <a:t>Crate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48456"/>
            <a:ext cx="1828800" cy="502920"/>
          </a:xfrm>
          <a:prstGeom prst="roundRect">
            <a:avLst>
              <a:gd name="adj" fmla="val 15000"/>
            </a:avLst>
          </a:prstGeom>
          <a:solidFill>
            <a:srgbClr val="5F9DBE"/>
          </a:solidFill>
          <a:ln>
            <a:solidFill>
              <a:srgbClr val="5F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776472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362A"/>
                </a:solidFill>
                <a:latin typeface="Aptos"/>
              </a:rPr>
              <a:t>Crate 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3063240"/>
            <a:ext cx="777240" cy="0"/>
          </a:xfrm>
          <a:prstGeom prst="line">
            <a:avLst/>
          </a:prstGeom>
          <a:ln w="25400">
            <a:solidFill>
              <a:srgbClr val="257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94760" y="1691640"/>
            <a:ext cx="3703320" cy="3246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69080" y="1920240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362A"/>
                </a:solidFill>
                <a:latin typeface="Aptos"/>
              </a:rPr>
              <a:t>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423160"/>
            <a:ext cx="3108960" cy="2011680"/>
          </a:xfrm>
          <a:prstGeom prst="rect">
            <a:avLst/>
          </a:prstGeom>
          <a:noFill/>
        </p:spPr>
        <p:txBody>
          <a:bodyPr wrap="square" lIns="73152" tIns="54864" rIns="54864" b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312A"/>
                </a:solidFill>
                <a:latin typeface="Aptos"/>
              </a:defRPr>
            </a:pPr>
            <a:r>
              <a:t>•  Overripe fruit must go to cold storage</a:t>
            </a:r>
          </a:p>
          <a:p>
            <a:pPr>
              <a:spcAft>
                <a:spcPts val="1000"/>
              </a:spcAft>
              <a:defRPr sz="1300">
                <a:solidFill>
                  <a:srgbClr val="23312A"/>
                </a:solidFill>
                <a:latin typeface="Aptos"/>
              </a:defRPr>
            </a:pPr>
            <a:r>
              <a:t>•  Unripe fruit must not go to cold storage</a:t>
            </a:r>
          </a:p>
          <a:p>
            <a:pPr>
              <a:spcAft>
                <a:spcPts val="1000"/>
              </a:spcAft>
              <a:defRPr sz="1300">
                <a:solidFill>
                  <a:srgbClr val="23312A"/>
                </a:solidFill>
                <a:latin typeface="Aptos"/>
              </a:defRPr>
            </a:pPr>
            <a:r>
              <a:t>•  Ethylene-producing fruit cannot share a zone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26679" y="3063240"/>
            <a:ext cx="640081" cy="0"/>
          </a:xfrm>
          <a:prstGeom prst="line">
            <a:avLst/>
          </a:prstGeom>
          <a:ln w="25400">
            <a:solidFill>
              <a:srgbClr val="257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03920" y="1828800"/>
            <a:ext cx="2743200" cy="2697480"/>
          </a:xfrm>
          <a:prstGeom prst="roundRect">
            <a:avLst>
              <a:gd name="adj" fmla="val 15000"/>
            </a:avLst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20" y="205740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362A"/>
                </a:solidFill>
                <a:latin typeface="Aptos"/>
              </a:rPr>
              <a:t>Search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560320"/>
            <a:ext cx="2240280" cy="1600200"/>
          </a:xfrm>
          <a:prstGeom prst="rect">
            <a:avLst/>
          </a:prstGeom>
          <a:noFill/>
        </p:spPr>
        <p:txBody>
          <a:bodyPr wrap="square" lIns="73152" tIns="54864" rIns="54864" b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312A"/>
                </a:solidFill>
                <a:latin typeface="Aptos"/>
              </a:defRPr>
            </a:pPr>
            <a:r>
              <a:t>•  MRV selects the most constrained crate</a:t>
            </a:r>
          </a:p>
          <a:p>
            <a:pPr>
              <a:spcAft>
                <a:spcPts val="800"/>
              </a:spcAft>
              <a:defRPr sz="1200">
                <a:solidFill>
                  <a:srgbClr val="23312A"/>
                </a:solidFill>
                <a:latin typeface="Aptos"/>
              </a:defRPr>
            </a:pPr>
            <a:r>
              <a:t>•  Backtracking tries a zone</a:t>
            </a:r>
          </a:p>
          <a:p>
            <a:pPr>
              <a:spcAft>
                <a:spcPts val="800"/>
              </a:spcAft>
              <a:defRPr sz="1200">
                <a:solidFill>
                  <a:srgbClr val="23312A"/>
                </a:solidFill>
                <a:latin typeface="Aptos"/>
              </a:defRPr>
            </a:pPr>
            <a:r>
              <a:t>•  Forward checking removes impossible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623560"/>
            <a:ext cx="10241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5734E"/>
                </a:solidFill>
                <a:latin typeface="Aptos"/>
              </a:rPr>
              <a:t>Output: a consistent crate → storage-zone assignment, if one exists.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362A"/>
                </a:solidFill>
                <a:latin typeface="Aptos Display"/>
              </a:rPr>
              <a:t>Web app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77824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5746A"/>
                </a:solidFill>
                <a:latin typeface="Aptos"/>
              </a:rPr>
              <a:t>Flask backend; designed for a phone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713232" cy="54864"/>
          </a:xfrm>
          <a:prstGeom prst="rect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2743200" cy="4343400"/>
          </a:xfrm>
          <a:prstGeom prst="roundRect">
            <a:avLst>
              <a:gd name="adj" fmla="val 15000"/>
            </a:avLst>
          </a:prstGeom>
          <a:solidFill>
            <a:srgbClr val="14362A"/>
          </a:solidFill>
          <a:ln>
            <a:solidFill>
              <a:srgbClr val="14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78992" y="1755648"/>
            <a:ext cx="2414016" cy="3794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61872" y="1938528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362A"/>
                </a:solidFill>
                <a:latin typeface="Aptos"/>
              </a:rPr>
              <a:t>RipenSense</a:t>
            </a:r>
          </a:p>
        </p:txBody>
      </p:sp>
      <p:sp>
        <p:nvSpPr>
          <p:cNvPr id="9" name="Oval 8"/>
          <p:cNvSpPr/>
          <p:nvPr/>
        </p:nvSpPr>
        <p:spPr>
          <a:xfrm>
            <a:off x="1858060" y="2500884"/>
            <a:ext cx="637336" cy="777240"/>
          </a:xfrm>
          <a:prstGeom prst="ellipse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80336" y="2609697"/>
            <a:ext cx="544068" cy="582930"/>
          </a:xfrm>
          <a:prstGeom prst="ellipse">
            <a:avLst/>
          </a:prstGeom>
          <a:solidFill>
            <a:srgbClr val="F6CC54"/>
          </a:solidFill>
          <a:ln>
            <a:solidFill>
              <a:srgbClr val="F6C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15591" y="2392070"/>
            <a:ext cx="62179" cy="170992"/>
          </a:xfrm>
          <a:prstGeom prst="rect">
            <a:avLst/>
          </a:prstGeom>
          <a:solidFill>
            <a:srgbClr val="91633D"/>
          </a:solidFill>
          <a:ln>
            <a:solidFill>
              <a:srgbClr val="916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46680" y="2407615"/>
            <a:ext cx="279806" cy="124358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737360" y="3657600"/>
            <a:ext cx="1005840" cy="310896"/>
          </a:xfrm>
          <a:prstGeom prst="roundRect">
            <a:avLst>
              <a:gd name="adj" fmla="val 15000"/>
            </a:avLst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73936" y="3685032"/>
            <a:ext cx="932688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734E"/>
                </a:solidFill>
                <a:latin typeface="Aptos"/>
              </a:rPr>
              <a:t>RIPE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133087"/>
            <a:ext cx="2103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4362A"/>
                </a:solidFill>
                <a:latin typeface="Aptos"/>
              </a:rPr>
              <a:t>Action: Sell immediately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98448" y="4736592"/>
            <a:ext cx="1965960" cy="438912"/>
          </a:xfrm>
          <a:prstGeom prst="roundRect">
            <a:avLst>
              <a:gd name="adj" fmla="val 15000"/>
            </a:avLst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18105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View route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645920"/>
            <a:ext cx="315468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400" y="1645920"/>
            <a:ext cx="73152" cy="1143000"/>
          </a:xfrm>
          <a:prstGeom prst="rect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44568" y="1783080"/>
            <a:ext cx="28072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362A"/>
                </a:solidFill>
                <a:latin typeface="Aptos"/>
              </a:rPr>
              <a:t>Image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2176272"/>
            <a:ext cx="2788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Scan with camera or upload a photo.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1645920"/>
            <a:ext cx="342900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18120" y="1645920"/>
            <a:ext cx="73152" cy="1143000"/>
          </a:xfrm>
          <a:prstGeom prst="rect">
            <a:avLst/>
          </a:prstGeom>
          <a:solidFill>
            <a:srgbClr val="5F9DBE"/>
          </a:solidFill>
          <a:ln>
            <a:solidFill>
              <a:srgbClr val="5F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19288" y="1783080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362A"/>
                </a:solidFill>
                <a:latin typeface="Aptos"/>
              </a:rPr>
              <a:t>Result 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2176272"/>
            <a:ext cx="3063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Fruit verdict, ripeness, action and rule certainty.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154680"/>
            <a:ext cx="315468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3400" y="3154680"/>
            <a:ext cx="73152" cy="1143000"/>
          </a:xfrm>
          <a:prstGeom prst="rect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44568" y="3291840"/>
            <a:ext cx="28072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362A"/>
                </a:solidFill>
                <a:latin typeface="Aptos"/>
              </a:rPr>
              <a:t>Reason 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3685032"/>
            <a:ext cx="2788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Show which symbolic rules supported the verdict.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3154680"/>
            <a:ext cx="342900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18120" y="3154680"/>
            <a:ext cx="73152" cy="1143000"/>
          </a:xfrm>
          <a:prstGeom prst="rect">
            <a:avLst/>
          </a:prstGeom>
          <a:solidFill>
            <a:srgbClr val="14362A"/>
          </a:solidFill>
          <a:ln>
            <a:solidFill>
              <a:srgbClr val="14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19288" y="3291840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362A"/>
                </a:solidFill>
                <a:latin typeface="Aptos"/>
              </a:rPr>
              <a:t>Logistics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3685032"/>
            <a:ext cx="3063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Shelf-life rule of thumb, storage zone and route.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4754880"/>
            <a:ext cx="6629400" cy="749808"/>
          </a:xfrm>
          <a:prstGeom prst="roundRect">
            <a:avLst>
              <a:gd name="adj" fmla="val 15000"/>
            </a:avLst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63440" y="4974336"/>
            <a:ext cx="6172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Non-fruit example: “No fruit detected” + reason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035040"/>
            <a:ext cx="10698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5746A"/>
                </a:solidFill>
                <a:latin typeface="Aptos"/>
              </a:rPr>
              <a:t>Screenshots to insert: [PLACEHOLDER — banana result] • [PLACEHOLDER — no fruit detected]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362A"/>
                </a:solidFill>
                <a:latin typeface="Aptos Display"/>
              </a:rPr>
              <a:t>Testing: what has and has not been shown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77824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5746A"/>
                </a:solidFill>
                <a:latin typeface="Aptos"/>
              </a:rPr>
              <a:t>Transparent reporting matters more than an inflated accuracy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713232" cy="54864"/>
          </a:xfrm>
          <a:prstGeom prst="rect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3200400" cy="3520440"/>
          </a:xfrm>
          <a:prstGeom prst="roundRect">
            <a:avLst>
              <a:gd name="adj" fmla="val 15000"/>
            </a:avLst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2560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14362A"/>
                </a:solidFill>
                <a:latin typeface="Aptos"/>
              </a:rP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25603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synthetic drawings gave expected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86200"/>
            <a:ext cx="25603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5746A"/>
                </a:solidFill>
                <a:latin typeface="Aptos"/>
              </a:rPr>
              <a:t>8 fruit drawings + 8 non-fruit drawings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24612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1417320"/>
          </a:xfrm>
          <a:prstGeom prst="rect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83080"/>
            <a:ext cx="28986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What this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76272"/>
            <a:ext cx="2880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Rule logic worked on these generated drawings.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42900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645920"/>
            <a:ext cx="73152" cy="1417320"/>
          </a:xfrm>
          <a:prstGeom prst="rect">
            <a:avLst/>
          </a:prstGeom>
          <a:solidFill>
            <a:srgbClr val="C34F41"/>
          </a:solidFill>
          <a:ln>
            <a:solidFill>
              <a:srgbClr val="C3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783080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What it does not mean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176272"/>
            <a:ext cx="30632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It is not real-world camera accuracy.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429000"/>
            <a:ext cx="324612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3429000"/>
            <a:ext cx="73152" cy="1417320"/>
          </a:xfrm>
          <a:prstGeom prst="rect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3566160"/>
            <a:ext cx="28986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Known false positive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959352"/>
            <a:ext cx="2880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An orange-coloured round toy ball can be accepted as fruit.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429000"/>
            <a:ext cx="342900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55279" y="3429000"/>
            <a:ext cx="73152" cy="1417320"/>
          </a:xfrm>
          <a:prstGeom prst="rect">
            <a:avLst/>
          </a:prstGeom>
          <a:solidFill>
            <a:srgbClr val="5F9DBE"/>
          </a:solidFill>
          <a:ln>
            <a:solidFill>
              <a:srgbClr val="5F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56448" y="3566160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362A"/>
                </a:solidFill>
                <a:latin typeface="Aptos"/>
              </a:rPr>
              <a:t>Accuracy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959352"/>
            <a:ext cx="30632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12A"/>
                </a:solidFill>
                <a:latin typeface="Aptos"/>
              </a:rPr>
              <a:t>Real labelled-photo evaluation: [PLACEHOLDER].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69280"/>
            <a:ext cx="102412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34F41"/>
                </a:solidFill>
                <a:latin typeface="Aptos"/>
              </a:rPr>
              <a:t>Displayed percentages = hand-assigned rule certainty factors, not measured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362A"/>
                </a:solidFill>
                <a:latin typeface="Aptos Display"/>
              </a:rPr>
              <a:t>Limitations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77824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5746A"/>
                </a:solidFill>
                <a:latin typeface="Aptos"/>
              </a:rPr>
              <a:t>A clear boundary makes the prototype easier to evaluate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713232" cy="54864"/>
          </a:xfrm>
          <a:prstGeom prst="rect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074920" cy="3566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3566160"/>
          </a:xfrm>
          <a:prstGeom prst="rect">
            <a:avLst/>
          </a:prstGeom>
          <a:solidFill>
            <a:srgbClr val="C34F41"/>
          </a:solidFill>
          <a:ln>
            <a:solidFill>
              <a:srgbClr val="C3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47274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362A"/>
                </a:solidFill>
                <a:latin typeface="Apto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30552"/>
            <a:ext cx="4709159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12A"/>
                </a:solidFill>
                <a:latin typeface="Aptos"/>
              </a:rPr>
              <a:t>• Uses only external colour and outline
• Cannot see internal ripeness
• Colour/shape lookalikes can fool it
• Best fit: banana, mango, tomato, apple
• Poor fit: orange/lemon, watermelon, grapes, pineapple, avocado, kiwi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074920" cy="3566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2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73152" cy="3566160"/>
          </a:xfrm>
          <a:prstGeom prst="rect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737360"/>
            <a:ext cx="47274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362A"/>
                </a:solidFill>
                <a:latin typeface="Aptos"/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130552"/>
            <a:ext cx="4709159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• Evaluate on labelled real photos</a:t>
            </a:r>
          </a:p>
          <a:p>
            <a:r>
              <a:t>• Tune thresholds and hand-written rules</a:t>
            </a:r>
          </a:p>
          <a:p>
            <a:r>
              <a:t>• Add fruit-specific rules and categories</a:t>
            </a:r>
          </a:p>
          <a:p>
            <a:r>
              <a:t>• Consider near-infrared / spectral sensing for internal cues</a:t>
            </a:r>
          </a:p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508760" y="5486400"/>
            <a:ext cx="9144000" cy="530352"/>
          </a:xfrm>
          <a:prstGeom prst="roundRect">
            <a:avLst>
              <a:gd name="adj" fmla="val 15000"/>
            </a:avLst>
          </a:prstGeom>
          <a:solidFill>
            <a:srgbClr val="E0F1DE"/>
          </a:solidFill>
          <a:ln>
            <a:solidFill>
              <a:srgbClr val="E0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5632704"/>
            <a:ext cx="8686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362A"/>
                </a:solidFill>
                <a:latin typeface="Aptos"/>
              </a:rPr>
              <a:t>Future options are proposals — they are not part of the current classical-AI build.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4572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234440"/>
            <a:ext cx="731520" cy="54864"/>
          </a:xfrm>
          <a:prstGeom prst="rect">
            <a:avLst/>
          </a:prstGeom>
          <a:solidFill>
            <a:srgbClr val="B1D869"/>
          </a:solidFill>
          <a:ln>
            <a:solidFill>
              <a:srgbClr val="B1D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5669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RipenSense AI combines computer-vision measurements with classical symbolic reasoning and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5577840" cy="2194560"/>
          </a:xfrm>
          <a:prstGeom prst="rect">
            <a:avLst/>
          </a:prstGeom>
          <a:noFill/>
        </p:spPr>
        <p:txBody>
          <a:bodyPr wrap="square" lIns="73152" tIns="54864" rIns="54864" bIns="2743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0F1DE"/>
                </a:solidFill>
                <a:latin typeface="Aptos"/>
              </a:defRPr>
            </a:pPr>
            <a:r>
              <a:t>•  Explainable rules: fruit screening, ripeness and handling action</a:t>
            </a:r>
          </a:p>
          <a:p>
            <a:pPr>
              <a:spcAft>
                <a:spcPts val="1200"/>
              </a:spcAft>
              <a:defRPr sz="1500">
                <a:solidFill>
                  <a:srgbClr val="E0F1DE"/>
                </a:solidFill>
                <a:latin typeface="Aptos"/>
              </a:defRPr>
            </a:pPr>
            <a:r>
              <a:t>•  Search + CSP: warehouse routes, delivery planning and storage assignment</a:t>
            </a:r>
          </a:p>
          <a:p>
            <a:pPr>
              <a:spcAft>
                <a:spcPts val="1200"/>
              </a:spcAft>
              <a:defRPr sz="1500">
                <a:solidFill>
                  <a:srgbClr val="E0F1DE"/>
                </a:solidFill>
                <a:latin typeface="Aptos"/>
              </a:defRPr>
            </a:pPr>
            <a:r>
              <a:t>•  Honest status: synthetic tests passed; real-photo accuracy remains unmeasured</a:t>
            </a:r>
          </a:p>
          <a:p>
            <a:pPr>
              <a:spcAft>
                <a:spcPts val="1200"/>
              </a:spcAft>
              <a:defRPr sz="1500">
                <a:solidFill>
                  <a:srgbClr val="E0F1DE"/>
                </a:solidFill>
                <a:latin typeface="Aptos"/>
              </a:defRPr>
            </a:pPr>
            <a:r>
              <a:t>•  No machine learning or generative AI in the current implementation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7708392" y="2057400"/>
            <a:ext cx="1124712" cy="1371600"/>
          </a:xfrm>
          <a:prstGeom prst="ellipse">
            <a:avLst/>
          </a:prstGeom>
          <a:solidFill>
            <a:srgbClr val="ED9947"/>
          </a:solidFill>
          <a:ln>
            <a:solidFill>
              <a:srgbClr val="ED9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71231" y="2249424"/>
            <a:ext cx="960119" cy="1028700"/>
          </a:xfrm>
          <a:prstGeom prst="ellipse">
            <a:avLst/>
          </a:prstGeom>
          <a:solidFill>
            <a:srgbClr val="F6CC54"/>
          </a:solidFill>
          <a:ln>
            <a:solidFill>
              <a:srgbClr val="F6C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39327" y="1865376"/>
            <a:ext cx="109728" cy="301752"/>
          </a:xfrm>
          <a:prstGeom prst="rect">
            <a:avLst/>
          </a:prstGeom>
          <a:solidFill>
            <a:srgbClr val="91633D"/>
          </a:solidFill>
          <a:ln>
            <a:solidFill>
              <a:srgbClr val="916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394192" y="1892808"/>
            <a:ext cx="493776" cy="219456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50577" y="2885846"/>
            <a:ext cx="950976" cy="974750"/>
          </a:xfrm>
          <a:prstGeom prst="ellipse">
            <a:avLst/>
          </a:prstGeom>
          <a:solidFill>
            <a:srgbClr val="C34F41"/>
          </a:solidFill>
          <a:ln>
            <a:solidFill>
              <a:srgbClr val="C3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90404" y="2885846"/>
            <a:ext cx="950976" cy="974750"/>
          </a:xfrm>
          <a:prstGeom prst="ellipse">
            <a:avLst/>
          </a:prstGeom>
          <a:solidFill>
            <a:srgbClr val="C34F41"/>
          </a:solidFill>
          <a:ln>
            <a:solidFill>
              <a:srgbClr val="C3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971532" y="2766974"/>
            <a:ext cx="237744" cy="237744"/>
          </a:xfrm>
          <a:prstGeom prst="ellipse">
            <a:avLst/>
          </a:prstGeom>
          <a:solidFill>
            <a:srgbClr val="C34F41"/>
          </a:solidFill>
          <a:ln>
            <a:solidFill>
              <a:srgbClr val="C3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56824" y="2719425"/>
            <a:ext cx="106984" cy="297180"/>
          </a:xfrm>
          <a:prstGeom prst="rect">
            <a:avLst/>
          </a:prstGeom>
          <a:solidFill>
            <a:srgbClr val="91633D"/>
          </a:solidFill>
          <a:ln>
            <a:solidFill>
              <a:srgbClr val="916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351922" y="2766974"/>
            <a:ext cx="404164" cy="190195"/>
          </a:xfrm>
          <a:prstGeom prst="ellipse">
            <a:avLst/>
          </a:prstGeom>
          <a:solidFill>
            <a:srgbClr val="25734E"/>
          </a:solidFill>
          <a:ln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rc 14"/>
          <p:cNvSpPr/>
          <p:nvPr/>
        </p:nvSpPr>
        <p:spPr>
          <a:xfrm>
            <a:off x="7589520" y="4069080"/>
            <a:ext cx="1426464" cy="891540"/>
          </a:xfrm>
          <a:prstGeom prst="arc">
            <a:avLst/>
          </a:prstGeom>
          <a:solidFill>
            <a:srgbClr val="F6CC54"/>
          </a:solidFill>
          <a:ln>
            <a:solidFill>
              <a:srgbClr val="F6C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32166" y="4271162"/>
            <a:ext cx="1117396" cy="499262"/>
          </a:xfrm>
          <a:prstGeom prst="ellipse">
            <a:avLst/>
          </a:prstGeom>
          <a:solidFill>
            <a:srgbClr val="F6CC54"/>
          </a:solidFill>
          <a:ln>
            <a:solidFill>
              <a:srgbClr val="F6C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803489" y="4425696"/>
            <a:ext cx="1022299" cy="285292"/>
          </a:xfrm>
          <a:prstGeom prst="ellipse">
            <a:avLst/>
          </a:prstGeom>
          <a:solidFill>
            <a:srgbClr val="F6F9F2"/>
          </a:solidFill>
          <a:ln>
            <a:solidFill>
              <a:srgbClr val="F6F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7068" y="4283049"/>
            <a:ext cx="130759" cy="95097"/>
          </a:xfrm>
          <a:prstGeom prst="rect">
            <a:avLst/>
          </a:prstGeom>
          <a:solidFill>
            <a:srgbClr val="91633D"/>
          </a:solidFill>
          <a:ln>
            <a:solidFill>
              <a:srgbClr val="916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13901" y="4568342"/>
            <a:ext cx="118872" cy="95097"/>
          </a:xfrm>
          <a:prstGeom prst="rect">
            <a:avLst/>
          </a:prstGeom>
          <a:solidFill>
            <a:srgbClr val="91633D"/>
          </a:solidFill>
          <a:ln>
            <a:solidFill>
              <a:srgbClr val="916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562356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B1D869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1398</Words>
  <Application>Microsoft Macintosh PowerPoint</Application>
  <PresentationFormat>Custom</PresentationFormat>
  <Paragraphs>196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RipenSense AI — Fruit Ripeness Scanner</dc:title>
  <dc:subject>Fundamentals of Artificial Intelligence project presentation</dc:subject>
  <dc:creator>[Student name]</dc:creator>
  <cp:keywords>classical AI, OpenCV, Flask, search, CSP, rule-based inference</cp:keywords>
  <dc:description>generated using python-pptx</dc:description>
  <cp:lastModifiedBy>Admin</cp:lastModifiedBy>
  <cp:revision>3</cp:revision>
  <dcterms:created xsi:type="dcterms:W3CDTF">2013-01-27T09:14:16Z</dcterms:created>
  <dcterms:modified xsi:type="dcterms:W3CDTF">2026-10-28T13:45:06Z</dcterms:modified>
  <cp:category/>
</cp:coreProperties>
</file>